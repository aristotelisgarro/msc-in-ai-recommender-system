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6256000" cy="9144000"/>
  <p:notesSz cx="9144000" cy="16256000"/>
  <p:embeddedFontLst>
    <p:embeddedFont>
      <p:font typeface="微软雅黑" panose="020B0503020204020204" pitchFamily="34" charset="-122"/>
      <p:regular r:id="rId20"/>
      <p:bold r:id="rId21"/>
    </p:embeddedFont>
    <p:embeddedFont>
      <p:font typeface="Liter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47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Πλήθος</c:v>
                </c:pt>
              </c:strCache>
            </c:strRef>
          </c:tx>
          <c:spPr>
            <a:solidFill>
              <a:srgbClr val="2E5E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Χρήστες</c:v>
                </c:pt>
                <c:pt idx="1">
                  <c:v>Ταινίες</c:v>
                </c:pt>
                <c:pt idx="2">
                  <c:v>Ratings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6040</c:v>
                </c:pt>
                <c:pt idx="1">
                  <c:v>3706</c:v>
                </c:pt>
                <c:pt idx="2">
                  <c:v>1000209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5A-43FB-A087-3C68101B03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C4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FF7F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Item-based CB</c:v>
                </c:pt>
                <c:pt idx="1">
                  <c:v>User Profile CB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1.0162</c:v>
                </c:pt>
                <c:pt idx="1">
                  <c:v>1.4423999999999999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E8-4E53-9CDC-983670206D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C4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2E5E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Item-CB</c:v>
                </c:pt>
                <c:pt idx="1">
                  <c:v>User-CB</c:v>
                </c:pt>
                <c:pt idx="2">
                  <c:v>KNN</c:v>
                </c:pt>
                <c:pt idx="3">
                  <c:v>SVD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1.0162</c:v>
                </c:pt>
                <c:pt idx="1">
                  <c:v>1.4423999999999999</c:v>
                </c:pt>
                <c:pt idx="2">
                  <c:v>0.96120000000000005</c:v>
                </c:pt>
                <c:pt idx="3">
                  <c:v>0.87839999999999996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A1-427A-8DF0-5D202DCA44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C4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727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prstGeom prst="rect">
            <a:avLst/>
          </a:prstGeom>
          <a:gradFill flip="none" rotWithShape="1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prstGeom prst="rect">
            <a:avLst/>
          </a:prstGeom>
          <a:gradFill flip="none" rotWithShape="1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286000"/>
            <a:ext cx="1270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Υβριδικό Σύστημα Συστάσεων Ταινιών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Εφαρμογές Τεχνητής Νοημοσύνης · MovieLens 1M Dataset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5207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53000" y="5588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Ακαδημαϊκό Έτος 2025–2026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Περιεχόμενα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prstGeom prst="rect">
            <a:avLst/>
          </a:prstGeom>
          <a:gradFill flip="none" rotWithShape="1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58800" cy="5588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540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Εισαγωγή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24000" y="3429000"/>
            <a:ext cx="558800" cy="5588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3429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3429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Δεδομένα — MovieLens 1M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498600" y="4292600"/>
            <a:ext cx="609600" cy="6096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1498600" y="4292600"/>
            <a:ext cx="6096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0" y="431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Μεθοδολογία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498600" y="5181600"/>
            <a:ext cx="609600" cy="6096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498600" y="5181600"/>
            <a:ext cx="6096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6000" y="5207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Αξιολόγηση &amp; Αποτελέσματα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498600" y="6070600"/>
            <a:ext cx="609600" cy="6096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1498600" y="6070600"/>
            <a:ext cx="6096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86000" y="6096000"/>
            <a:ext cx="711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Συμπεράσματα &amp; Εφαρμογή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prstGeom prst="rect">
            <a:avLst/>
          </a:prstGeom>
          <a:gradFill flip="none" rotWithShape="1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7F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Εισαγωγή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CFD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Στόχος και θεμελιώδεις προκλήσεις συστημάτων συστάσεων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Στόχος &amp; Θεμελιώδεις Προκλήσεις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24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33400" y="304800"/>
                </a:moveTo>
                <a:cubicBezTo>
                  <a:pt x="533400" y="178632"/>
                  <a:pt x="430968" y="76200"/>
                  <a:pt x="304800" y="76200"/>
                </a:cubicBezTo>
                <a:cubicBezTo>
                  <a:pt x="178632" y="76200"/>
                  <a:pt x="76200" y="178632"/>
                  <a:pt x="76200" y="304800"/>
                </a:cubicBezTo>
                <a:cubicBezTo>
                  <a:pt x="76200" y="430968"/>
                  <a:pt x="178632" y="533400"/>
                  <a:pt x="304800" y="533400"/>
                </a:cubicBezTo>
                <a:cubicBezTo>
                  <a:pt x="430968" y="533400"/>
                  <a:pt x="533400" y="430968"/>
                  <a:pt x="533400" y="304800"/>
                </a:cubicBezTo>
                <a:close/>
                <a:moveTo>
                  <a:pt x="0" y="304800"/>
                </a:moveTo>
                <a:cubicBezTo>
                  <a:pt x="0" y="136576"/>
                  <a:pt x="136576" y="0"/>
                  <a:pt x="304800" y="0"/>
                </a:cubicBezTo>
                <a:cubicBezTo>
                  <a:pt x="473024" y="0"/>
                  <a:pt x="609600" y="136576"/>
                  <a:pt x="609600" y="304800"/>
                </a:cubicBezTo>
                <a:cubicBezTo>
                  <a:pt x="609600" y="473024"/>
                  <a:pt x="473024" y="609600"/>
                  <a:pt x="304800" y="609600"/>
                </a:cubicBezTo>
                <a:cubicBezTo>
                  <a:pt x="136576" y="609600"/>
                  <a:pt x="0" y="473024"/>
                  <a:pt x="0" y="304800"/>
                </a:cubicBezTo>
                <a:close/>
                <a:moveTo>
                  <a:pt x="304800" y="400050"/>
                </a:moveTo>
                <a:cubicBezTo>
                  <a:pt x="357370" y="400050"/>
                  <a:pt x="400050" y="357370"/>
                  <a:pt x="400050" y="304800"/>
                </a:cubicBezTo>
                <a:cubicBezTo>
                  <a:pt x="400050" y="252230"/>
                  <a:pt x="357370" y="209550"/>
                  <a:pt x="304800" y="209550"/>
                </a:cubicBezTo>
                <a:cubicBezTo>
                  <a:pt x="252230" y="209550"/>
                  <a:pt x="209550" y="252230"/>
                  <a:pt x="209550" y="304800"/>
                </a:cubicBezTo>
                <a:cubicBezTo>
                  <a:pt x="209550" y="357370"/>
                  <a:pt x="252230" y="400050"/>
                  <a:pt x="304800" y="400050"/>
                </a:cubicBezTo>
                <a:close/>
                <a:moveTo>
                  <a:pt x="304800" y="133350"/>
                </a:moveTo>
                <a:cubicBezTo>
                  <a:pt x="399426" y="133350"/>
                  <a:pt x="476250" y="210174"/>
                  <a:pt x="476250" y="304800"/>
                </a:cubicBezTo>
                <a:cubicBezTo>
                  <a:pt x="476250" y="399426"/>
                  <a:pt x="399426" y="476250"/>
                  <a:pt x="304800" y="476250"/>
                </a:cubicBezTo>
                <a:cubicBezTo>
                  <a:pt x="210174" y="476250"/>
                  <a:pt x="133350" y="399426"/>
                  <a:pt x="133350" y="304800"/>
                </a:cubicBezTo>
                <a:cubicBezTo>
                  <a:pt x="133350" y="210174"/>
                  <a:pt x="210174" y="133350"/>
                  <a:pt x="304800" y="133350"/>
                </a:cubicBezTo>
                <a:close/>
                <a:moveTo>
                  <a:pt x="266700" y="304800"/>
                </a:moveTo>
                <a:cubicBezTo>
                  <a:pt x="266700" y="283772"/>
                  <a:pt x="283772" y="266700"/>
                  <a:pt x="304800" y="266700"/>
                </a:cubicBezTo>
                <a:cubicBezTo>
                  <a:pt x="325828" y="266700"/>
                  <a:pt x="342900" y="283772"/>
                  <a:pt x="342900" y="304800"/>
                </a:cubicBezTo>
                <a:cubicBezTo>
                  <a:pt x="342900" y="325828"/>
                  <a:pt x="325828" y="342900"/>
                  <a:pt x="304800" y="342900"/>
                </a:cubicBezTo>
                <a:cubicBezTo>
                  <a:pt x="283772" y="342900"/>
                  <a:pt x="266700" y="325828"/>
                  <a:pt x="266700" y="3048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30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Στόχος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3937000"/>
            <a:ext cx="3556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Υβριδικό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σύστημα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CB + CF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Αντιστάθμιση αδυναμιών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69000" y="2032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23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43138" y="0"/>
                </a:moveTo>
                <a:cubicBezTo>
                  <a:pt x="343138" y="-21074"/>
                  <a:pt x="326112" y="-38100"/>
                  <a:pt x="305038" y="-38100"/>
                </a:cubicBezTo>
                <a:cubicBezTo>
                  <a:pt x="283964" y="-38100"/>
                  <a:pt x="266938" y="-21074"/>
                  <a:pt x="266938" y="0"/>
                </a:cubicBezTo>
                <a:lnTo>
                  <a:pt x="266938" y="73938"/>
                </a:lnTo>
                <a:lnTo>
                  <a:pt x="249079" y="56078"/>
                </a:lnTo>
                <a:cubicBezTo>
                  <a:pt x="237887" y="44887"/>
                  <a:pt x="219789" y="44887"/>
                  <a:pt x="208717" y="56078"/>
                </a:cubicBezTo>
                <a:cubicBezTo>
                  <a:pt x="197644" y="67270"/>
                  <a:pt x="197525" y="85368"/>
                  <a:pt x="208717" y="96441"/>
                </a:cubicBezTo>
                <a:lnTo>
                  <a:pt x="267057" y="154781"/>
                </a:lnTo>
                <a:lnTo>
                  <a:pt x="267057" y="238839"/>
                </a:lnTo>
                <a:lnTo>
                  <a:pt x="194191" y="196810"/>
                </a:lnTo>
                <a:lnTo>
                  <a:pt x="172879" y="117157"/>
                </a:lnTo>
                <a:cubicBezTo>
                  <a:pt x="168831" y="101918"/>
                  <a:pt x="153114" y="92869"/>
                  <a:pt x="137874" y="96917"/>
                </a:cubicBezTo>
                <a:cubicBezTo>
                  <a:pt x="122634" y="100965"/>
                  <a:pt x="113467" y="116681"/>
                  <a:pt x="117515" y="131921"/>
                </a:cubicBezTo>
                <a:lnTo>
                  <a:pt x="124063" y="156329"/>
                </a:lnTo>
                <a:lnTo>
                  <a:pt x="60127" y="119420"/>
                </a:lnTo>
                <a:cubicBezTo>
                  <a:pt x="41910" y="108942"/>
                  <a:pt x="18574" y="115133"/>
                  <a:pt x="8096" y="133350"/>
                </a:cubicBezTo>
                <a:cubicBezTo>
                  <a:pt x="-2381" y="151567"/>
                  <a:pt x="3810" y="174903"/>
                  <a:pt x="22027" y="185380"/>
                </a:cubicBezTo>
                <a:lnTo>
                  <a:pt x="85963" y="222290"/>
                </a:lnTo>
                <a:lnTo>
                  <a:pt x="61555" y="228838"/>
                </a:lnTo>
                <a:cubicBezTo>
                  <a:pt x="46315" y="232886"/>
                  <a:pt x="37267" y="248602"/>
                  <a:pt x="41315" y="263843"/>
                </a:cubicBezTo>
                <a:cubicBezTo>
                  <a:pt x="45363" y="279083"/>
                  <a:pt x="61079" y="288131"/>
                  <a:pt x="76319" y="284083"/>
                </a:cubicBezTo>
                <a:lnTo>
                  <a:pt x="155972" y="262771"/>
                </a:lnTo>
                <a:lnTo>
                  <a:pt x="228838" y="304800"/>
                </a:lnTo>
                <a:lnTo>
                  <a:pt x="155972" y="346829"/>
                </a:lnTo>
                <a:lnTo>
                  <a:pt x="76319" y="325517"/>
                </a:lnTo>
                <a:cubicBezTo>
                  <a:pt x="61079" y="321469"/>
                  <a:pt x="45363" y="330518"/>
                  <a:pt x="41315" y="345758"/>
                </a:cubicBezTo>
                <a:cubicBezTo>
                  <a:pt x="37267" y="360998"/>
                  <a:pt x="46315" y="376714"/>
                  <a:pt x="61555" y="380762"/>
                </a:cubicBezTo>
                <a:lnTo>
                  <a:pt x="85963" y="387310"/>
                </a:lnTo>
                <a:lnTo>
                  <a:pt x="22027" y="424220"/>
                </a:lnTo>
                <a:cubicBezTo>
                  <a:pt x="3810" y="434697"/>
                  <a:pt x="-2381" y="458033"/>
                  <a:pt x="8096" y="476250"/>
                </a:cubicBezTo>
                <a:cubicBezTo>
                  <a:pt x="18574" y="494467"/>
                  <a:pt x="41910" y="500777"/>
                  <a:pt x="60127" y="490180"/>
                </a:cubicBezTo>
                <a:lnTo>
                  <a:pt x="124063" y="453271"/>
                </a:lnTo>
                <a:lnTo>
                  <a:pt x="117515" y="477679"/>
                </a:lnTo>
                <a:cubicBezTo>
                  <a:pt x="113467" y="492919"/>
                  <a:pt x="122515" y="508635"/>
                  <a:pt x="137755" y="512683"/>
                </a:cubicBezTo>
                <a:cubicBezTo>
                  <a:pt x="152995" y="516731"/>
                  <a:pt x="168712" y="507683"/>
                  <a:pt x="172760" y="492442"/>
                </a:cubicBezTo>
                <a:lnTo>
                  <a:pt x="194072" y="412790"/>
                </a:lnTo>
                <a:lnTo>
                  <a:pt x="266938" y="370761"/>
                </a:lnTo>
                <a:lnTo>
                  <a:pt x="266938" y="454819"/>
                </a:lnTo>
                <a:lnTo>
                  <a:pt x="208597" y="513159"/>
                </a:lnTo>
                <a:cubicBezTo>
                  <a:pt x="197406" y="524351"/>
                  <a:pt x="197406" y="542449"/>
                  <a:pt x="208597" y="553522"/>
                </a:cubicBezTo>
                <a:cubicBezTo>
                  <a:pt x="219789" y="564594"/>
                  <a:pt x="237887" y="564713"/>
                  <a:pt x="248960" y="553522"/>
                </a:cubicBezTo>
                <a:lnTo>
                  <a:pt x="266819" y="535662"/>
                </a:lnTo>
                <a:lnTo>
                  <a:pt x="266819" y="609600"/>
                </a:lnTo>
                <a:cubicBezTo>
                  <a:pt x="266819" y="630674"/>
                  <a:pt x="283845" y="647700"/>
                  <a:pt x="304919" y="647700"/>
                </a:cubicBezTo>
                <a:cubicBezTo>
                  <a:pt x="325993" y="647700"/>
                  <a:pt x="343019" y="630674"/>
                  <a:pt x="343019" y="609600"/>
                </a:cubicBezTo>
                <a:lnTo>
                  <a:pt x="343019" y="535662"/>
                </a:lnTo>
                <a:lnTo>
                  <a:pt x="360878" y="553522"/>
                </a:lnTo>
                <a:cubicBezTo>
                  <a:pt x="372070" y="564713"/>
                  <a:pt x="390168" y="564713"/>
                  <a:pt x="401241" y="553522"/>
                </a:cubicBezTo>
                <a:cubicBezTo>
                  <a:pt x="412313" y="542330"/>
                  <a:pt x="412433" y="524232"/>
                  <a:pt x="401241" y="513159"/>
                </a:cubicBezTo>
                <a:lnTo>
                  <a:pt x="342900" y="454819"/>
                </a:lnTo>
                <a:lnTo>
                  <a:pt x="342900" y="370761"/>
                </a:lnTo>
                <a:lnTo>
                  <a:pt x="415766" y="412790"/>
                </a:lnTo>
                <a:lnTo>
                  <a:pt x="437078" y="492442"/>
                </a:lnTo>
                <a:cubicBezTo>
                  <a:pt x="441127" y="507682"/>
                  <a:pt x="456843" y="516731"/>
                  <a:pt x="472083" y="512683"/>
                </a:cubicBezTo>
                <a:cubicBezTo>
                  <a:pt x="487323" y="508635"/>
                  <a:pt x="496372" y="492919"/>
                  <a:pt x="492323" y="477679"/>
                </a:cubicBezTo>
                <a:lnTo>
                  <a:pt x="485775" y="453271"/>
                </a:lnTo>
                <a:lnTo>
                  <a:pt x="549712" y="490180"/>
                </a:lnTo>
                <a:cubicBezTo>
                  <a:pt x="567928" y="500658"/>
                  <a:pt x="591264" y="494467"/>
                  <a:pt x="601742" y="476250"/>
                </a:cubicBezTo>
                <a:cubicBezTo>
                  <a:pt x="612219" y="458033"/>
                  <a:pt x="606028" y="434697"/>
                  <a:pt x="587812" y="424220"/>
                </a:cubicBezTo>
                <a:lnTo>
                  <a:pt x="523875" y="387310"/>
                </a:lnTo>
                <a:lnTo>
                  <a:pt x="548283" y="380762"/>
                </a:lnTo>
                <a:cubicBezTo>
                  <a:pt x="563523" y="376714"/>
                  <a:pt x="572572" y="360997"/>
                  <a:pt x="568523" y="345758"/>
                </a:cubicBezTo>
                <a:cubicBezTo>
                  <a:pt x="564475" y="330518"/>
                  <a:pt x="548759" y="321469"/>
                  <a:pt x="533519" y="325517"/>
                </a:cubicBezTo>
                <a:lnTo>
                  <a:pt x="453866" y="346829"/>
                </a:lnTo>
                <a:lnTo>
                  <a:pt x="381000" y="304800"/>
                </a:lnTo>
                <a:lnTo>
                  <a:pt x="453866" y="262771"/>
                </a:lnTo>
                <a:lnTo>
                  <a:pt x="533519" y="284083"/>
                </a:lnTo>
                <a:cubicBezTo>
                  <a:pt x="548759" y="288131"/>
                  <a:pt x="564475" y="279082"/>
                  <a:pt x="568523" y="263842"/>
                </a:cubicBezTo>
                <a:cubicBezTo>
                  <a:pt x="572572" y="248602"/>
                  <a:pt x="563523" y="232886"/>
                  <a:pt x="548283" y="228838"/>
                </a:cubicBezTo>
                <a:lnTo>
                  <a:pt x="523875" y="222290"/>
                </a:lnTo>
                <a:lnTo>
                  <a:pt x="587812" y="185380"/>
                </a:lnTo>
                <a:cubicBezTo>
                  <a:pt x="606028" y="174903"/>
                  <a:pt x="612338" y="151567"/>
                  <a:pt x="601742" y="133350"/>
                </a:cubicBezTo>
                <a:cubicBezTo>
                  <a:pt x="591145" y="115133"/>
                  <a:pt x="567928" y="108942"/>
                  <a:pt x="549712" y="119420"/>
                </a:cubicBezTo>
                <a:lnTo>
                  <a:pt x="485775" y="156329"/>
                </a:lnTo>
                <a:lnTo>
                  <a:pt x="492323" y="131921"/>
                </a:lnTo>
                <a:cubicBezTo>
                  <a:pt x="496372" y="116681"/>
                  <a:pt x="487323" y="100965"/>
                  <a:pt x="472083" y="96917"/>
                </a:cubicBezTo>
                <a:cubicBezTo>
                  <a:pt x="456843" y="92869"/>
                  <a:pt x="441127" y="101917"/>
                  <a:pt x="437078" y="117157"/>
                </a:cubicBezTo>
                <a:lnTo>
                  <a:pt x="415766" y="196810"/>
                </a:lnTo>
                <a:lnTo>
                  <a:pt x="342900" y="238839"/>
                </a:lnTo>
                <a:lnTo>
                  <a:pt x="342900" y="154781"/>
                </a:lnTo>
                <a:lnTo>
                  <a:pt x="401241" y="96441"/>
                </a:lnTo>
                <a:cubicBezTo>
                  <a:pt x="412432" y="85249"/>
                  <a:pt x="412432" y="67151"/>
                  <a:pt x="401241" y="56078"/>
                </a:cubicBezTo>
                <a:cubicBezTo>
                  <a:pt x="390049" y="45006"/>
                  <a:pt x="371951" y="44887"/>
                  <a:pt x="360878" y="56078"/>
                </a:cubicBezTo>
                <a:lnTo>
                  <a:pt x="343019" y="73938"/>
                </a:lnTo>
                <a:lnTo>
                  <a:pt x="343019" y="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350000" y="330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Cold-Start Problem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0000" y="3937000"/>
            <a:ext cx="3556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Cold-Start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CB: genres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CF: αδυνατεί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668000" y="2032000"/>
            <a:ext cx="4318000" cy="5588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560300" y="2413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533400" y="245031"/>
                </a:moveTo>
                <a:cubicBezTo>
                  <a:pt x="515779" y="256699"/>
                  <a:pt x="495538" y="266105"/>
                  <a:pt x="474464" y="273606"/>
                </a:cubicBezTo>
                <a:cubicBezTo>
                  <a:pt x="418505" y="293608"/>
                  <a:pt x="345043" y="304800"/>
                  <a:pt x="266700" y="304800"/>
                </a:cubicBezTo>
                <a:cubicBezTo>
                  <a:pt x="188357" y="304800"/>
                  <a:pt x="114776" y="293489"/>
                  <a:pt x="58936" y="273606"/>
                </a:cubicBezTo>
                <a:cubicBezTo>
                  <a:pt x="37981" y="266105"/>
                  <a:pt x="17621" y="256699"/>
                  <a:pt x="0" y="245031"/>
                </a:cubicBezTo>
                <a:lnTo>
                  <a:pt x="0" y="342900"/>
                </a:lnTo>
                <a:cubicBezTo>
                  <a:pt x="0" y="395526"/>
                  <a:pt x="119420" y="438150"/>
                  <a:pt x="266700" y="438150"/>
                </a:cubicBezTo>
                <a:cubicBezTo>
                  <a:pt x="413980" y="438150"/>
                  <a:pt x="533400" y="395526"/>
                  <a:pt x="533400" y="342900"/>
                </a:cubicBezTo>
                <a:lnTo>
                  <a:pt x="533400" y="245031"/>
                </a:lnTo>
                <a:close/>
                <a:moveTo>
                  <a:pt x="533400" y="152400"/>
                </a:moveTo>
                <a:lnTo>
                  <a:pt x="533400" y="95250"/>
                </a:lnTo>
                <a:cubicBezTo>
                  <a:pt x="533400" y="42624"/>
                  <a:pt x="413980" y="0"/>
                  <a:pt x="266700" y="0"/>
                </a:cubicBezTo>
                <a:cubicBezTo>
                  <a:pt x="119420" y="0"/>
                  <a:pt x="0" y="42624"/>
                  <a:pt x="0" y="95250"/>
                </a:cubicBezTo>
                <a:lnTo>
                  <a:pt x="0" y="152400"/>
                </a:lnTo>
                <a:cubicBezTo>
                  <a:pt x="0" y="205026"/>
                  <a:pt x="119420" y="247650"/>
                  <a:pt x="266700" y="247650"/>
                </a:cubicBezTo>
                <a:cubicBezTo>
                  <a:pt x="413980" y="247650"/>
                  <a:pt x="533400" y="205026"/>
                  <a:pt x="533400" y="152400"/>
                </a:cubicBezTo>
                <a:close/>
                <a:moveTo>
                  <a:pt x="474464" y="464106"/>
                </a:moveTo>
                <a:cubicBezTo>
                  <a:pt x="418624" y="483989"/>
                  <a:pt x="345162" y="495300"/>
                  <a:pt x="266700" y="495300"/>
                </a:cubicBezTo>
                <a:cubicBezTo>
                  <a:pt x="188238" y="495300"/>
                  <a:pt x="114776" y="483989"/>
                  <a:pt x="58936" y="464106"/>
                </a:cubicBezTo>
                <a:cubicBezTo>
                  <a:pt x="37981" y="456605"/>
                  <a:pt x="17621" y="447199"/>
                  <a:pt x="0" y="435531"/>
                </a:cubicBezTo>
                <a:lnTo>
                  <a:pt x="0" y="514350"/>
                </a:lnTo>
                <a:cubicBezTo>
                  <a:pt x="0" y="566976"/>
                  <a:pt x="119420" y="609600"/>
                  <a:pt x="266700" y="609600"/>
                </a:cubicBezTo>
                <a:cubicBezTo>
                  <a:pt x="413980" y="609600"/>
                  <a:pt x="533400" y="566976"/>
                  <a:pt x="533400" y="514350"/>
                </a:cubicBezTo>
                <a:lnTo>
                  <a:pt x="533400" y="435531"/>
                </a:lnTo>
                <a:cubicBezTo>
                  <a:pt x="515779" y="447199"/>
                  <a:pt x="495538" y="456605"/>
                  <a:pt x="474464" y="4641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330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Sparsity Problem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0" y="3937000"/>
            <a:ext cx="3556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Πίνακες </a:t>
            </a: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&gt;95%</a:t>
            </a: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αραιοί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Το CF υποφέρει από έλλειψη κοινών αξιολογήσεων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Το CB δεν επηρεάζεται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5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prstGeom prst="rect">
            <a:avLst/>
          </a:prstGeom>
          <a:gradFill flip="none" rotWithShape="1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7F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168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Δεδομένα — MovieLens 1M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CFD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Dataset, EDA και Train/Test Split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Χαρακτηριστικά Dataset &amp; EDA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3048000" cy="2032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70000" y="2222500"/>
            <a:ext cx="304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6.040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270000" y="3111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Χρήστες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3556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 20 ratings/χρήστη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99000" y="2032000"/>
            <a:ext cx="3048000" cy="2032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99000" y="2222500"/>
            <a:ext cx="304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3.706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699000" y="3111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Ταινίες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9000" y="3556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 genres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2032000"/>
            <a:ext cx="3048000" cy="2032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28000" y="2222500"/>
            <a:ext cx="304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7F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0" y="3111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Ratings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0" y="3556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1–5 αστέρια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557000" y="2032000"/>
            <a:ext cx="3429000" cy="2032000"/>
          </a:xfrm>
          <a:prstGeom prst="roundRect">
            <a:avLst>
              <a:gd name="adj" fmla="val 12000"/>
            </a:avLst>
          </a:prstGeom>
          <a:gradFill flip="none" rotWithShape="1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Text 15"/>
          <p:cNvSpPr/>
          <p:nvPr/>
        </p:nvSpPr>
        <p:spPr>
          <a:xfrm>
            <a:off x="11557000" y="2222500"/>
            <a:ext cx="342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95.53%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57000" y="31115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Sparsity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557000" y="3556000"/>
            <a:ext cx="342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εξαιρετικά αραιός πίνακας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70000" y="4572000"/>
            <a:ext cx="13716000" cy="330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78000" y="4826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Βασικά Ευρήματα EDA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78000" y="5334000"/>
            <a:ext cx="12700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Long-tail: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Λίγες ταινίες (~top 10%) →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popularity bias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Θετική μεροληψία: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Μέσο rating 3.58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Απουσία cold-start: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min 20 ratings/χρήστη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Genres: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1-3 ανά ταινία, binary vectors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Επίδραση Sparsity &amp; Train/Test Split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032000"/>
            <a:ext cx="6350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Sparsity 95.53%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Μόνο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~165/3.706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ταινίες ανά χρήστη (~4.5%)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Πρόβλημα KNN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Απαιτείται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overlap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κοινών αξιολογήσεων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Πλεονέκτημα SVD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Μαθαίνει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latent factors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Train/Test: 80/20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Seed=42, επίπεδο ratings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0" y="2032000"/>
            <a:ext cx="6604000" cy="533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8763000" y="2286000"/>
          <a:ext cx="5842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8763000" y="5969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3.58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μέσο rating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ελάχιστα ratings/χρήστη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5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prstGeom prst="rect">
            <a:avLst/>
          </a:prstGeom>
          <a:gradFill flip="none" rotWithShape="1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7F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Μεθοδολογία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CFD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Content-Based, Collaborative Filtering και Υβριδικές μέθοδοι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Content-Based Filtering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032000"/>
            <a:ext cx="6604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Item-based CB (Cosine)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sim(i,j) = cosine(genre_i, genre_j)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pred =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average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RMSE = </a:t>
            </a:r>
            <a:r>
              <a:rPr lang="en-US" sz="2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1.0162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Profile CB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weighted mean genre vector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Κλιμάκωση [0,1]→[1,5]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RMSE = </a:t>
            </a:r>
            <a:r>
              <a:rPr lang="en-US" sz="2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1.4424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Γιατί Item-based υπερέχει: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Αποφεύγει calibration problem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36000" y="2032000"/>
            <a:ext cx="6350000" cy="533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9144000" y="2413000"/>
          <a:ext cx="5334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9144000" y="5969000"/>
            <a:ext cx="533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Item-based: κάθε rating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ξεχωριστά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Collaborative Filtering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572000" cy="584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44800" y="24130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381000" y="19050"/>
                </a:moveTo>
                <a:cubicBezTo>
                  <a:pt x="449341" y="19050"/>
                  <a:pt x="504825" y="74534"/>
                  <a:pt x="504825" y="142875"/>
                </a:cubicBezTo>
                <a:cubicBezTo>
                  <a:pt x="504825" y="211216"/>
                  <a:pt x="449341" y="266700"/>
                  <a:pt x="381000" y="266700"/>
                </a:cubicBezTo>
                <a:cubicBezTo>
                  <a:pt x="312659" y="266700"/>
                  <a:pt x="257175" y="211216"/>
                  <a:pt x="257175" y="142875"/>
                </a:cubicBezTo>
                <a:cubicBezTo>
                  <a:pt x="257175" y="74534"/>
                  <a:pt x="312659" y="19050"/>
                  <a:pt x="381000" y="19050"/>
                </a:cubicBezTo>
                <a:close/>
                <a:moveTo>
                  <a:pt x="114300" y="104775"/>
                </a:moveTo>
                <a:cubicBezTo>
                  <a:pt x="161613" y="104775"/>
                  <a:pt x="200025" y="143187"/>
                  <a:pt x="200025" y="190500"/>
                </a:cubicBezTo>
                <a:cubicBezTo>
                  <a:pt x="200025" y="237813"/>
                  <a:pt x="161613" y="276225"/>
                  <a:pt x="114300" y="276225"/>
                </a:cubicBezTo>
                <a:cubicBezTo>
                  <a:pt x="66987" y="276225"/>
                  <a:pt x="28575" y="237813"/>
                  <a:pt x="28575" y="190500"/>
                </a:cubicBezTo>
                <a:cubicBezTo>
                  <a:pt x="28575" y="143187"/>
                  <a:pt x="66987" y="104775"/>
                  <a:pt x="114300" y="104775"/>
                </a:cubicBezTo>
                <a:close/>
                <a:moveTo>
                  <a:pt x="0" y="495300"/>
                </a:moveTo>
                <a:cubicBezTo>
                  <a:pt x="0" y="411123"/>
                  <a:pt x="68223" y="342900"/>
                  <a:pt x="152400" y="342900"/>
                </a:cubicBezTo>
                <a:cubicBezTo>
                  <a:pt x="167640" y="342900"/>
                  <a:pt x="182404" y="345162"/>
                  <a:pt x="196334" y="349329"/>
                </a:cubicBezTo>
                <a:cubicBezTo>
                  <a:pt x="157163" y="393144"/>
                  <a:pt x="133350" y="451009"/>
                  <a:pt x="133350" y="514350"/>
                </a:cubicBezTo>
                <a:lnTo>
                  <a:pt x="133350" y="533400"/>
                </a:lnTo>
                <a:cubicBezTo>
                  <a:pt x="133350" y="546973"/>
                  <a:pt x="136208" y="559832"/>
                  <a:pt x="141327" y="571500"/>
                </a:cubicBezTo>
                <a:lnTo>
                  <a:pt x="38100" y="571500"/>
                </a:lnTo>
                <a:cubicBezTo>
                  <a:pt x="17026" y="571500"/>
                  <a:pt x="0" y="554474"/>
                  <a:pt x="0" y="533400"/>
                </a:cubicBezTo>
                <a:lnTo>
                  <a:pt x="0" y="495300"/>
                </a:lnTo>
                <a:close/>
                <a:moveTo>
                  <a:pt x="620673" y="571500"/>
                </a:moveTo>
                <a:cubicBezTo>
                  <a:pt x="625793" y="559832"/>
                  <a:pt x="628650" y="546973"/>
                  <a:pt x="628650" y="533400"/>
                </a:cubicBezTo>
                <a:lnTo>
                  <a:pt x="628650" y="514350"/>
                </a:lnTo>
                <a:cubicBezTo>
                  <a:pt x="628650" y="451009"/>
                  <a:pt x="604837" y="393144"/>
                  <a:pt x="565666" y="349329"/>
                </a:cubicBezTo>
                <a:cubicBezTo>
                  <a:pt x="579596" y="345162"/>
                  <a:pt x="594360" y="342900"/>
                  <a:pt x="609600" y="342900"/>
                </a:cubicBezTo>
                <a:cubicBezTo>
                  <a:pt x="693777" y="342900"/>
                  <a:pt x="762000" y="411123"/>
                  <a:pt x="762000" y="495300"/>
                </a:cubicBezTo>
                <a:lnTo>
                  <a:pt x="762000" y="533400"/>
                </a:lnTo>
                <a:cubicBezTo>
                  <a:pt x="762000" y="554474"/>
                  <a:pt x="744974" y="571500"/>
                  <a:pt x="723900" y="571500"/>
                </a:cubicBezTo>
                <a:lnTo>
                  <a:pt x="620673" y="571500"/>
                </a:lnTo>
                <a:close/>
                <a:moveTo>
                  <a:pt x="561975" y="190500"/>
                </a:moveTo>
                <a:cubicBezTo>
                  <a:pt x="561975" y="143187"/>
                  <a:pt x="600387" y="104775"/>
                  <a:pt x="647700" y="104775"/>
                </a:cubicBezTo>
                <a:cubicBezTo>
                  <a:pt x="695013" y="104775"/>
                  <a:pt x="733425" y="143187"/>
                  <a:pt x="733425" y="190500"/>
                </a:cubicBezTo>
                <a:cubicBezTo>
                  <a:pt x="733425" y="237813"/>
                  <a:pt x="695013" y="276225"/>
                  <a:pt x="647700" y="276225"/>
                </a:cubicBezTo>
                <a:cubicBezTo>
                  <a:pt x="600387" y="276225"/>
                  <a:pt x="561975" y="237813"/>
                  <a:pt x="561975" y="190500"/>
                </a:cubicBezTo>
                <a:close/>
                <a:moveTo>
                  <a:pt x="190500" y="514350"/>
                </a:moveTo>
                <a:cubicBezTo>
                  <a:pt x="190500" y="409099"/>
                  <a:pt x="275749" y="323850"/>
                  <a:pt x="381000" y="323850"/>
                </a:cubicBezTo>
                <a:cubicBezTo>
                  <a:pt x="486251" y="323850"/>
                  <a:pt x="571500" y="409099"/>
                  <a:pt x="571500" y="514350"/>
                </a:cubicBezTo>
                <a:lnTo>
                  <a:pt x="571500" y="533400"/>
                </a:lnTo>
                <a:cubicBezTo>
                  <a:pt x="571500" y="554474"/>
                  <a:pt x="554474" y="571500"/>
                  <a:pt x="533400" y="571500"/>
                </a:cubicBezTo>
                <a:lnTo>
                  <a:pt x="228600" y="571500"/>
                </a:lnTo>
                <a:cubicBezTo>
                  <a:pt x="207526" y="571500"/>
                  <a:pt x="190500" y="554474"/>
                  <a:pt x="190500" y="533400"/>
                </a:cubicBezTo>
                <a:lnTo>
                  <a:pt x="190500" y="51435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302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Memory-based KNN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3937000"/>
            <a:ext cx="3810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User-based &amp; Item-based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k=40, min_support=5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Ομοιότητες: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Pearson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(best)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Cosine, Jaccard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RMSE: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0.9612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23000" y="2032000"/>
            <a:ext cx="4572000" cy="584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740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/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604000" y="3302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Model-based SVD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4000" y="3937000"/>
            <a:ext cx="3810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 ≈ P · Q</a:t>
            </a:r>
            <a:r>
              <a:rPr lang="en-US" sz="2000" baseline="30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n_factors =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n_epochs = 20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lr = 0.005, reg = 0.02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3-fold CV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RMSE: </a:t>
            </a:r>
            <a:r>
              <a:rPr lang="en-US" sz="2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0.8784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176000" y="2032000"/>
            <a:ext cx="3810000" cy="5842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776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71807" y="0"/>
                </a:moveTo>
                <a:lnTo>
                  <a:pt x="438507" y="0"/>
                </a:lnTo>
                <a:cubicBezTo>
                  <a:pt x="470059" y="0"/>
                  <a:pt x="495776" y="25956"/>
                  <a:pt x="494586" y="57388"/>
                </a:cubicBezTo>
                <a:cubicBezTo>
                  <a:pt x="494348" y="63698"/>
                  <a:pt x="494109" y="70009"/>
                  <a:pt x="493752" y="76200"/>
                </a:cubicBezTo>
                <a:lnTo>
                  <a:pt x="552807" y="76200"/>
                </a:lnTo>
                <a:cubicBezTo>
                  <a:pt x="583883" y="76200"/>
                  <a:pt x="611267" y="101918"/>
                  <a:pt x="608886" y="135493"/>
                </a:cubicBezTo>
                <a:cubicBezTo>
                  <a:pt x="599956" y="258961"/>
                  <a:pt x="536853" y="326827"/>
                  <a:pt x="468392" y="362307"/>
                </a:cubicBezTo>
                <a:cubicBezTo>
                  <a:pt x="449580" y="372070"/>
                  <a:pt x="430411" y="379333"/>
                  <a:pt x="412194" y="384691"/>
                </a:cubicBezTo>
                <a:cubicBezTo>
                  <a:pt x="388144" y="418743"/>
                  <a:pt x="363141" y="436721"/>
                  <a:pt x="343257" y="446365"/>
                </a:cubicBezTo>
                <a:lnTo>
                  <a:pt x="343257" y="533400"/>
                </a:lnTo>
                <a:lnTo>
                  <a:pt x="419457" y="533400"/>
                </a:lnTo>
                <a:cubicBezTo>
                  <a:pt x="440531" y="533400"/>
                  <a:pt x="457557" y="550426"/>
                  <a:pt x="457557" y="571500"/>
                </a:cubicBezTo>
                <a:cubicBezTo>
                  <a:pt x="457557" y="592574"/>
                  <a:pt x="440531" y="609600"/>
                  <a:pt x="419457" y="609600"/>
                </a:cubicBezTo>
                <a:lnTo>
                  <a:pt x="190857" y="609600"/>
                </a:lnTo>
                <a:cubicBezTo>
                  <a:pt x="169783" y="609600"/>
                  <a:pt x="152757" y="592574"/>
                  <a:pt x="152757" y="571500"/>
                </a:cubicBezTo>
                <a:cubicBezTo>
                  <a:pt x="152757" y="550426"/>
                  <a:pt x="169783" y="533400"/>
                  <a:pt x="190857" y="533400"/>
                </a:cubicBezTo>
                <a:lnTo>
                  <a:pt x="267057" y="533400"/>
                </a:lnTo>
                <a:lnTo>
                  <a:pt x="267057" y="446365"/>
                </a:lnTo>
                <a:cubicBezTo>
                  <a:pt x="248007" y="437197"/>
                  <a:pt x="224314" y="420172"/>
                  <a:pt x="201216" y="388858"/>
                </a:cubicBezTo>
                <a:cubicBezTo>
                  <a:pt x="179308" y="383143"/>
                  <a:pt x="155496" y="374452"/>
                  <a:pt x="132278" y="361355"/>
                </a:cubicBezTo>
                <a:cubicBezTo>
                  <a:pt x="67866" y="325279"/>
                  <a:pt x="9763" y="257294"/>
                  <a:pt x="1429" y="135255"/>
                </a:cubicBezTo>
                <a:cubicBezTo>
                  <a:pt x="-833" y="101798"/>
                  <a:pt x="26432" y="76081"/>
                  <a:pt x="57507" y="76081"/>
                </a:cubicBezTo>
                <a:lnTo>
                  <a:pt x="116562" y="76081"/>
                </a:lnTo>
                <a:cubicBezTo>
                  <a:pt x="116205" y="69890"/>
                  <a:pt x="115967" y="63698"/>
                  <a:pt x="115729" y="57269"/>
                </a:cubicBezTo>
                <a:cubicBezTo>
                  <a:pt x="114538" y="25717"/>
                  <a:pt x="140256" y="-119"/>
                  <a:pt x="171807" y="-119"/>
                </a:cubicBezTo>
                <a:close/>
                <a:moveTo>
                  <a:pt x="120848" y="133350"/>
                </a:moveTo>
                <a:lnTo>
                  <a:pt x="58460" y="133350"/>
                </a:lnTo>
                <a:cubicBezTo>
                  <a:pt x="65842" y="234196"/>
                  <a:pt x="112157" y="284678"/>
                  <a:pt x="159901" y="311468"/>
                </a:cubicBezTo>
                <a:cubicBezTo>
                  <a:pt x="142756" y="267057"/>
                  <a:pt x="128588" y="209074"/>
                  <a:pt x="120848" y="133350"/>
                </a:cubicBezTo>
                <a:close/>
                <a:moveTo>
                  <a:pt x="452437" y="305753"/>
                </a:moveTo>
                <a:cubicBezTo>
                  <a:pt x="500658" y="277416"/>
                  <a:pt x="544235" y="227052"/>
                  <a:pt x="551617" y="133350"/>
                </a:cubicBezTo>
                <a:lnTo>
                  <a:pt x="489347" y="133350"/>
                </a:lnTo>
                <a:cubicBezTo>
                  <a:pt x="481965" y="205859"/>
                  <a:pt x="468630" y="262176"/>
                  <a:pt x="452437" y="30575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557000" y="330200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Σύγκριση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57000" y="3937000"/>
            <a:ext cx="3048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SVD κυριαρχεί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~10% βελτίωση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Latent factors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Όχι overlap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Bias terms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Υβριδικές Μέθοδοι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2413000" y="2540000"/>
            <a:ext cx="1270000" cy="1270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2413000" y="2540000"/>
            <a:ext cx="127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78000" y="3937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Content-Based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4445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Genre-based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RMSE: 1.0162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83000" y="3175000"/>
            <a:ext cx="2540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6223000" y="2540000"/>
            <a:ext cx="1270000" cy="1270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223000" y="2540000"/>
            <a:ext cx="127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CF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88000" y="3937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Collaborative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61000" y="4445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SVD-based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RMSE: 0.8784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93000" y="3175000"/>
            <a:ext cx="2540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0033000" y="2540000"/>
            <a:ext cx="1270000" cy="1270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33000" y="2540000"/>
            <a:ext cx="127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Hybrid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98000" y="3937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Weighted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71000" y="4445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α=0.10 (CF 90%)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RMSE: </a:t>
            </a: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0.8768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270000" y="5969000"/>
            <a:ext cx="13716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78000" y="6159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Switching Hybrid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78000" y="6540500"/>
            <a:ext cx="1270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score = CB αν |ratings(u)| &lt; threshold, αλλιώς CF → threshold =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Κανένας χρήστης δεν έχει &lt;5 ratings →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pure SVD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(RMSE=0.8784)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5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prstGeom prst="rect">
            <a:avLst/>
          </a:prstGeom>
          <a:gradFill flip="none" rotWithShape="1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7F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168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Αξιολόγηση &amp; Αποτελέσματα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CFD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Μετρικές και σύγκριση όλων των μοντέλων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Μετρικές &amp; Αποτελέσματα CB/CF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35560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Μοντέλο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RMSE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P@5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R@5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P@10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F1@10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Item-based CB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1.0162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0.8119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0.6793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0.3933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0.6072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0.6014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User Profile CB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1.4424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1.1727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0.6304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0.3810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0.5645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0.5700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KNN (Pearson)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0.9612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0.7649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0.6772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0.6551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SVD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0.8784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0.6902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0.7917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0.4404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0.6866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0.6618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1270000" y="5842000"/>
          <a:ext cx="8636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10414000" y="5842000"/>
            <a:ext cx="4572000" cy="2286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10668000" y="6032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Βασικά Ευρήματα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0668000" y="6540500"/>
            <a:ext cx="406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SVD κυριαρχεί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Item-CB &gt; User-CB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Pearson &gt; Cosine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Τελική Σύγκριση — CB vs CF vs Hybrid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3048000" cy="2159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70000" y="2032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Content-Based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24765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1.0162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3175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RMSE (Item-based)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70000" y="3556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F1@10: 0.6014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99000" y="1905000"/>
            <a:ext cx="3048000" cy="2159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99000" y="2032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Collaborative (SVD)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9000" y="24765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dirty="0">
                <a:solidFill>
                  <a:srgbClr val="2E5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0.8784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99000" y="3175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9000" y="3556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F1@10: 0.6618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1905000"/>
            <a:ext cx="3048000" cy="2159000"/>
          </a:xfrm>
          <a:prstGeom prst="roundRect">
            <a:avLst>
              <a:gd name="adj" fmla="val 12000"/>
            </a:avLst>
          </a:prstGeom>
          <a:gradFill flip="none" rotWithShape="1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5" name="Text 13"/>
          <p:cNvSpPr/>
          <p:nvPr/>
        </p:nvSpPr>
        <p:spPr>
          <a:xfrm>
            <a:off x="8128000" y="2032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Weighted Hybrid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0" y="24765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0.8768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0" y="3175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RMSE (α=0.10)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8000" y="3556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F1@10: 0.6621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557000" y="1905000"/>
            <a:ext cx="3429000" cy="2159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 w="25400">
            <a:solidFill>
              <a:srgbClr val="2E5E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557000" y="2032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Switching Hybrid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557000" y="24765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0.8784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557000" y="3175000"/>
            <a:ext cx="342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RMSE (= pure CF)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557000" y="3556000"/>
            <a:ext cx="342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F1@10: 0.6618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70000" y="4572000"/>
            <a:ext cx="13716000" cy="330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78000" y="4826000"/>
            <a:ext cx="1270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Κύρια Ευρήματα: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Hybrid (α=0.10)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καλύτερο RMSE (0.8768) και F1@10 (0.6621)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Switching Hybrid = pure CF (κανένας με &lt;5 ratings)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CF βελτιώνει CB κατά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~14%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1.0162 → 0.8784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P@5=0.7917 &gt; P@10=0.6867 — top-5 πιο ακριβή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5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prstGeom prst="rect">
            <a:avLst/>
          </a:prstGeom>
          <a:gradFill flip="none" rotWithShape="1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7F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168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Συμπεράσματα &amp; Εφαρμογή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CFD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Streamlit App, κύρια συμπεράσματα και μελλοντικές επεκτάσεις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Συμπεράσματα &amp; Μελλοντικές Επεκτάσεις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572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10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609600"/>
                </a:moveTo>
                <a:cubicBezTo>
                  <a:pt x="473024" y="609600"/>
                  <a:pt x="609600" y="473024"/>
                  <a:pt x="609600" y="304800"/>
                </a:cubicBezTo>
                <a:cubicBezTo>
                  <a:pt x="609600" y="136576"/>
                  <a:pt x="473024" y="0"/>
                  <a:pt x="304800" y="0"/>
                </a:cubicBezTo>
                <a:cubicBezTo>
                  <a:pt x="136576" y="0"/>
                  <a:pt x="0" y="136576"/>
                  <a:pt x="0" y="304800"/>
                </a:cubicBezTo>
                <a:cubicBezTo>
                  <a:pt x="0" y="473024"/>
                  <a:pt x="136576" y="609600"/>
                  <a:pt x="304800" y="609600"/>
                </a:cubicBezTo>
                <a:close/>
                <a:moveTo>
                  <a:pt x="405289" y="253246"/>
                </a:moveTo>
                <a:lnTo>
                  <a:pt x="310039" y="405646"/>
                </a:lnTo>
                <a:cubicBezTo>
                  <a:pt x="305038" y="413623"/>
                  <a:pt x="296466" y="418624"/>
                  <a:pt x="287060" y="419100"/>
                </a:cubicBezTo>
                <a:cubicBezTo>
                  <a:pt x="277654" y="419576"/>
                  <a:pt x="268605" y="415290"/>
                  <a:pt x="263009" y="407670"/>
                </a:cubicBezTo>
                <a:lnTo>
                  <a:pt x="205859" y="331470"/>
                </a:lnTo>
                <a:cubicBezTo>
                  <a:pt x="196334" y="318849"/>
                  <a:pt x="198953" y="300990"/>
                  <a:pt x="211574" y="291465"/>
                </a:cubicBezTo>
                <a:cubicBezTo>
                  <a:pt x="224195" y="281940"/>
                  <a:pt x="242054" y="284559"/>
                  <a:pt x="251579" y="297180"/>
                </a:cubicBezTo>
                <a:lnTo>
                  <a:pt x="283726" y="340043"/>
                </a:lnTo>
                <a:lnTo>
                  <a:pt x="356830" y="223004"/>
                </a:lnTo>
                <a:cubicBezTo>
                  <a:pt x="365165" y="209669"/>
                  <a:pt x="382786" y="205502"/>
                  <a:pt x="396240" y="213955"/>
                </a:cubicBezTo>
                <a:cubicBezTo>
                  <a:pt x="409694" y="222409"/>
                  <a:pt x="413742" y="239911"/>
                  <a:pt x="405289" y="25336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302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Συμπεράσματα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3937000"/>
            <a:ext cx="3810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Item-CB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User-CB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SVD κυριαρχεί (RMSE=0.8784)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Weighted Hybrid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καλύτερο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(0.8768)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Switching = pure CF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23000" y="2032000"/>
            <a:ext cx="4572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740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22302" y="0"/>
                  <a:pt x="338376" y="9644"/>
                  <a:pt x="346710" y="25003"/>
                </a:cubicBezTo>
                <a:lnTo>
                  <a:pt x="603885" y="501253"/>
                </a:lnTo>
                <a:cubicBezTo>
                  <a:pt x="611862" y="516017"/>
                  <a:pt x="611505" y="533876"/>
                  <a:pt x="602933" y="548283"/>
                </a:cubicBezTo>
                <a:cubicBezTo>
                  <a:pt x="594360" y="562689"/>
                  <a:pt x="578763" y="571500"/>
                  <a:pt x="561975" y="571500"/>
                </a:cubicBezTo>
                <a:lnTo>
                  <a:pt x="47625" y="571500"/>
                </a:lnTo>
                <a:cubicBezTo>
                  <a:pt x="30837" y="571500"/>
                  <a:pt x="15359" y="562689"/>
                  <a:pt x="6668" y="548283"/>
                </a:cubicBezTo>
                <a:cubicBezTo>
                  <a:pt x="-2024" y="533876"/>
                  <a:pt x="-2262" y="516017"/>
                  <a:pt x="5715" y="501253"/>
                </a:cubicBezTo>
                <a:lnTo>
                  <a:pt x="262890" y="25003"/>
                </a:lnTo>
                <a:cubicBezTo>
                  <a:pt x="271224" y="9644"/>
                  <a:pt x="287298" y="0"/>
                  <a:pt x="304800" y="0"/>
                </a:cubicBezTo>
                <a:close/>
                <a:moveTo>
                  <a:pt x="304800" y="200025"/>
                </a:moveTo>
                <a:cubicBezTo>
                  <a:pt x="288965" y="200025"/>
                  <a:pt x="276225" y="212765"/>
                  <a:pt x="276225" y="228600"/>
                </a:cubicBezTo>
                <a:lnTo>
                  <a:pt x="276225" y="361950"/>
                </a:lnTo>
                <a:cubicBezTo>
                  <a:pt x="276225" y="377785"/>
                  <a:pt x="288965" y="390525"/>
                  <a:pt x="304800" y="390525"/>
                </a:cubicBezTo>
                <a:cubicBezTo>
                  <a:pt x="320635" y="390525"/>
                  <a:pt x="333375" y="377785"/>
                  <a:pt x="333375" y="361950"/>
                </a:cubicBezTo>
                <a:lnTo>
                  <a:pt x="333375" y="228600"/>
                </a:lnTo>
                <a:cubicBezTo>
                  <a:pt x="333375" y="212765"/>
                  <a:pt x="320635" y="200025"/>
                  <a:pt x="304800" y="200025"/>
                </a:cubicBezTo>
                <a:close/>
                <a:moveTo>
                  <a:pt x="336590" y="457200"/>
                </a:moveTo>
                <a:cubicBezTo>
                  <a:pt x="337313" y="445400"/>
                  <a:pt x="331428" y="434173"/>
                  <a:pt x="321313" y="428055"/>
                </a:cubicBezTo>
                <a:cubicBezTo>
                  <a:pt x="311197" y="421936"/>
                  <a:pt x="298522" y="421936"/>
                  <a:pt x="288406" y="428055"/>
                </a:cubicBezTo>
                <a:cubicBezTo>
                  <a:pt x="278291" y="434173"/>
                  <a:pt x="272406" y="445400"/>
                  <a:pt x="273129" y="457200"/>
                </a:cubicBezTo>
                <a:cubicBezTo>
                  <a:pt x="272406" y="469000"/>
                  <a:pt x="278291" y="480227"/>
                  <a:pt x="288406" y="486345"/>
                </a:cubicBezTo>
                <a:cubicBezTo>
                  <a:pt x="298522" y="492464"/>
                  <a:pt x="311197" y="492464"/>
                  <a:pt x="321313" y="486345"/>
                </a:cubicBezTo>
                <a:cubicBezTo>
                  <a:pt x="331428" y="480227"/>
                  <a:pt x="337313" y="469000"/>
                  <a:pt x="336590" y="4572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604000" y="3302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3C4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Περιορισμοί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4000" y="3937000"/>
            <a:ext cx="3810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Μόνο 18 genre features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Καμία cold-start αξιολόγηση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Όχι χρονική δυναμική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Popularity bias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176000" y="2032000"/>
            <a:ext cx="3810000" cy="5588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776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381000"/>
                </a:moveTo>
                <a:lnTo>
                  <a:pt x="29170" y="381000"/>
                </a:lnTo>
                <a:cubicBezTo>
                  <a:pt x="-476" y="381000"/>
                  <a:pt x="-18693" y="348734"/>
                  <a:pt x="-3453" y="323255"/>
                </a:cubicBezTo>
                <a:lnTo>
                  <a:pt x="59531" y="218242"/>
                </a:lnTo>
                <a:cubicBezTo>
                  <a:pt x="69890" y="200978"/>
                  <a:pt x="88463" y="190500"/>
                  <a:pt x="108585" y="190500"/>
                </a:cubicBezTo>
                <a:lnTo>
                  <a:pt x="221694" y="190500"/>
                </a:lnTo>
                <a:cubicBezTo>
                  <a:pt x="312301" y="37028"/>
                  <a:pt x="447437" y="29289"/>
                  <a:pt x="537805" y="42505"/>
                </a:cubicBezTo>
                <a:cubicBezTo>
                  <a:pt x="553045" y="44768"/>
                  <a:pt x="564952" y="56674"/>
                  <a:pt x="567095" y="71795"/>
                </a:cubicBezTo>
                <a:cubicBezTo>
                  <a:pt x="580311" y="162163"/>
                  <a:pt x="572572" y="297299"/>
                  <a:pt x="419100" y="387906"/>
                </a:cubicBezTo>
                <a:lnTo>
                  <a:pt x="419100" y="501015"/>
                </a:lnTo>
                <a:cubicBezTo>
                  <a:pt x="419100" y="521137"/>
                  <a:pt x="408623" y="539710"/>
                  <a:pt x="391358" y="550069"/>
                </a:cubicBezTo>
                <a:lnTo>
                  <a:pt x="286345" y="613053"/>
                </a:lnTo>
                <a:cubicBezTo>
                  <a:pt x="260985" y="628293"/>
                  <a:pt x="228600" y="609957"/>
                  <a:pt x="228600" y="580430"/>
                </a:cubicBezTo>
                <a:lnTo>
                  <a:pt x="228600" y="457200"/>
                </a:lnTo>
                <a:cubicBezTo>
                  <a:pt x="228600" y="415171"/>
                  <a:pt x="194429" y="381000"/>
                  <a:pt x="152400" y="381000"/>
                </a:cubicBezTo>
                <a:lnTo>
                  <a:pt x="152281" y="381000"/>
                </a:lnTo>
                <a:close/>
                <a:moveTo>
                  <a:pt x="476250" y="190500"/>
                </a:moveTo>
                <a:cubicBezTo>
                  <a:pt x="476250" y="158958"/>
                  <a:pt x="450642" y="133350"/>
                  <a:pt x="419100" y="133350"/>
                </a:cubicBezTo>
                <a:cubicBezTo>
                  <a:pt x="387558" y="133350"/>
                  <a:pt x="361950" y="158958"/>
                  <a:pt x="361950" y="190500"/>
                </a:cubicBezTo>
                <a:cubicBezTo>
                  <a:pt x="361950" y="222042"/>
                  <a:pt x="387558" y="247650"/>
                  <a:pt x="419100" y="247650"/>
                </a:cubicBezTo>
                <a:cubicBezTo>
                  <a:pt x="450642" y="247650"/>
                  <a:pt x="476250" y="222042"/>
                  <a:pt x="476250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557000" y="330200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Επεκτάσεις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57000" y="3937000"/>
            <a:ext cx="3048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SVD++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Implicit signals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Neural CF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Μη-γραμμικές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Context-aware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Χρόνος, διάθεση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E5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prstGeom prst="rect">
            <a:avLst/>
          </a:prstGeom>
          <a:gradFill flip="none" rotWithShape="1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prstGeom prst="rect">
            <a:avLst/>
          </a:prstGeom>
          <a:gradFill flip="none" rotWithShape="1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2413000" y="2540000"/>
            <a:ext cx="1143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Ευχαριστούμε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0" y="4064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00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Υβριδικό Σύστημα Συστάσεων Ταινιών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18000" y="5080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Εφαρμογές Τεχνητής Νοημοσύνης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Ακαδημαϊκό Έτος 2025–2026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729</Words>
  <Application>Microsoft Office PowerPoint</Application>
  <PresentationFormat>Custom</PresentationFormat>
  <Paragraphs>231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Liter</vt:lpstr>
      <vt:lpstr>微软雅黑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Υβριδικό Σύστημα Συστάσεων Ταινιών</dc:title>
  <dc:subject>Υβριδικό Σύστημα Συστάσεων Ταινιών</dc:subject>
  <dc:creator>Gkaro, Aristotelis</dc:creator>
  <cp:lastModifiedBy>Gkaro, Aristotelis (Γκάρο Αριστοτέλης)</cp:lastModifiedBy>
  <cp:revision>1</cp:revision>
  <dcterms:created xsi:type="dcterms:W3CDTF">2026-06-05T13:17:20Z</dcterms:created>
  <dcterms:modified xsi:type="dcterms:W3CDTF">2026-06-05T13:18:28Z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{"Label":"Υβριδικό Σύστημα Συστάσεων Ταινιών","ContentProducer":"001191110108MACG2KBH8F10000","ProduceID":"19e97e9d-64b2-828e-8000-000045728e88","ReservedCode1":"","ContentPropagator":"001191110108MACG2KBH8F20000","PropagateID":"19e97e9d-64b2-828e-8000-000045728e88","ReservedCode2":""}</vt:lpwstr>
  </property>
</Properties>
</file>